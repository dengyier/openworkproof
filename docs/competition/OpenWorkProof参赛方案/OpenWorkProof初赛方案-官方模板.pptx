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68" r:id="rId7"/>
    <p:sldId id="259" r:id="rId8"/>
    <p:sldId id="269" r:id="rId9"/>
    <p:sldId id="270" r:id="rId10"/>
    <p:sldId id="260" r:id="rId11"/>
    <p:sldId id="271" r:id="rId12"/>
    <p:sldId id="261" r:id="rId13"/>
    <p:sldId id="272" r:id="rId14"/>
    <p:sldId id="262" r:id="rId15"/>
    <p:sldId id="273" r:id="rId16"/>
    <p:sldId id="263" r:id="rId17"/>
    <p:sldId id="274" r:id="rId18"/>
    <p:sldId id="264" r:id="rId19"/>
    <p:sldId id="275" r:id="rId20"/>
    <p:sldId id="265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933"/>
        <p:guide pos="3840"/>
        <p:guide orient="horz" pos="23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可考虑从以下维度展开</a:t>
            </a:r>
            <a:r>
              <a:rPr lang="en-US" altLang="zh-CN" dirty="0"/>
              <a:t>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822960" y="4937760"/>
            <a:ext cx="2743200" cy="2743200"/>
          </a:xfrm>
          <a:prstGeom prst="ellipse">
            <a:avLst/>
          </a:prstGeom>
          <a:solidFill>
            <a:srgbClr val="2A2F5B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GOAI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世界人工智能开源大赛</a:t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初赛方案 PPT：Agent 工作契约与可验证执行协议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/>
            </a:r>
            <a:endParaRPr lang="en-US" sz="46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94360" y="3826510"/>
            <a:ext cx="609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800" b="0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Agent Infra · 新智基座  |  OpenWorkProof</a:t>
            </a:r>
            <a:r>
              <a:rPr lang="zh-CN" alt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/>
            </a:r>
            <a:r>
              <a:rPr lang="en-US" altLang="zh-CN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/>
            </a:r>
            <a:r>
              <a:rPr lang="en-US" sz="1500" b="1" kern="0" spc="2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/>
            </a:r>
            <a:endParaRPr lang="en-US" altLang="en-US" sz="1500" b="1" kern="0" spc="200" dirty="0">
              <a:solidFill>
                <a:srgbClr val="FF6B3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P0 · 一页纸速览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作品简介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50392" y="2221992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项目名称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 20 字。一句话说清「为谁、解决什么」。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b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OpenWorkProof —— Agent 工作契约与可验证执行协议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53458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09490" y="2221992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56378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问题与场景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9490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目标用户是谁、在什么场景、现实痛点是什么。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9490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b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 Agent 交付「完成」不可验证、不可审计、不可离线复核：合规审计一件工作 3–5 天，只能信厂商自陈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12557" y="1965960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68589" y="2221992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15477" y="2130552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核心解决方案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8589" y="2514600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一句话讲清整体思路：用多 Agent + Skill 怎么解。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68589" y="3063240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b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AgentTeams 多 Agent 协同 + 8 个 OWP Skill + 契约/授权/证据/验收协议层，让每步执行可验签、可离线复核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50392" y="4032504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创新点与差异化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对比现有做法，你独特/更优在哪。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b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Proof-Carrying Work：交付物自带证据链 ② 机器验证闭环：owp-verifier 确定性复核（非 LLM 自证）③ 同源生态：修复 AgentScope 自身 bug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53458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09490" y="4032504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56378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复用价值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9490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可复用成果、能迁移到哪些场景。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09490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b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Apache-2.0 · 8 个可复用 Skill · 25 个 MCP 工具 · 协议可迁移到任意多 Agent 系统（SaaS/金融/研发）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12557" y="3776472"/>
            <a:ext cx="3484778" cy="1554480"/>
          </a:xfrm>
          <a:prstGeom prst="roundRect">
            <a:avLst>
              <a:gd name="adj" fmla="val 4706"/>
            </a:avLst>
          </a:prstGeom>
          <a:solidFill>
            <a:srgbClr val="E9EEFB"/>
          </a:solidFill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68589" y="4032504"/>
            <a:ext cx="146304" cy="146304"/>
          </a:xfrm>
          <a:prstGeom prst="ellipse">
            <a:avLst/>
          </a:prstGeom>
          <a:solidFill>
            <a:srgbClr val="FF6B35"/>
          </a:solidFill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615477" y="3941064"/>
            <a:ext cx="279897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当前进展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8589" y="4325112"/>
            <a:ext cx="302757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做到了什么程度、有无可运行成果。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8589" y="4873752"/>
            <a:ext cx="302757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b="0">
                <a:solidFill>
                  <a:srgbClr val="9AA1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AgentTeams 真实接入跑通（分派证据存档）· 3056 测试 0 失败 · AgentScope #2239 可复现 demo · 初赛进行中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2A2F5B"/>
          </a:solidFill>
        </p:spPr>
      </p:sp>
      <p:sp>
        <p:nvSpPr>
          <p:cNvPr id="5" name="Text 3"/>
          <p:cNvSpPr/>
          <p:nvPr/>
        </p:nvSpPr>
        <p:spPr>
          <a:xfrm>
            <a:off x="594360" y="105156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zh-CN" altLang="en-US" sz="30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7" name="Shape 5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4448" y="2057400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1" name="Shape 9"/>
          <p:cNvSpPr/>
          <p:nvPr/>
        </p:nvSpPr>
        <p:spPr>
          <a:xfrm>
            <a:off x="6525616" y="2304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2" name="Text 10"/>
          <p:cNvSpPr/>
          <p:nvPr/>
        </p:nvSpPr>
        <p:spPr>
          <a:xfrm>
            <a:off x="6525616" y="23042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6240" y="2057400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工程落地、运行验证与安全可审计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16152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24448" y="3099816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19" name="Shape 17"/>
          <p:cNvSpPr/>
          <p:nvPr/>
        </p:nvSpPr>
        <p:spPr>
          <a:xfrm>
            <a:off x="6525616" y="3346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0" name="Text 18"/>
          <p:cNvSpPr/>
          <p:nvPr/>
        </p:nvSpPr>
        <p:spPr>
          <a:xfrm>
            <a:off x="6525616" y="334670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6240" y="3099816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开源开放计划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  <p:txBody>
          <a:bodyPr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4" name="Text 22"/>
          <p:cNvSpPr/>
          <p:nvPr/>
        </p:nvSpPr>
        <p:spPr>
          <a:xfrm>
            <a:off x="795528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协同设计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24448" y="4142232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27" name="Shape 25"/>
          <p:cNvSpPr/>
          <p:nvPr/>
        </p:nvSpPr>
        <p:spPr>
          <a:xfrm>
            <a:off x="6525616" y="4389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28" name="Text 26"/>
          <p:cNvSpPr/>
          <p:nvPr/>
        </p:nvSpPr>
        <p:spPr>
          <a:xfrm>
            <a:off x="6525616" y="4389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6240" y="4142232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落地计划与进展</a:t>
            </a:r>
            <a:endParaRPr 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  <a:sym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1" name="Shape 29"/>
          <p:cNvSpPr/>
          <p:nvPr/>
        </p:nvSpPr>
        <p:spPr>
          <a:xfrm>
            <a:off x="795528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2" name="Text 30"/>
          <p:cNvSpPr/>
          <p:nvPr/>
        </p:nvSpPr>
        <p:spPr>
          <a:xfrm>
            <a:off x="795528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16152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Skills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工具体系</a:t>
            </a:r>
            <a:endParaRPr lang="zh-CN" altLang="en-US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24448" y="5184648"/>
            <a:ext cx="5272888" cy="786384"/>
          </a:xfrm>
          <a:prstGeom prst="roundRect">
            <a:avLst>
              <a:gd name="adj" fmla="val 6977"/>
            </a:avLst>
          </a:prstGeom>
          <a:solidFill>
            <a:srgbClr val="2A2F5B"/>
          </a:solidFill>
        </p:spPr>
      </p:sp>
      <p:sp>
        <p:nvSpPr>
          <p:cNvPr id="35" name="Shape 33"/>
          <p:cNvSpPr/>
          <p:nvPr/>
        </p:nvSpPr>
        <p:spPr>
          <a:xfrm>
            <a:off x="6525616" y="543153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6B35"/>
          </a:solidFill>
        </p:spPr>
      </p:sp>
      <p:sp>
        <p:nvSpPr>
          <p:cNvPr id="36" name="Text 34"/>
          <p:cNvSpPr/>
          <p:nvPr/>
        </p:nvSpPr>
        <p:spPr>
          <a:xfrm>
            <a:off x="6525616" y="54315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/>
              <a:t>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6240" y="5184648"/>
            <a:ext cx="44956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Demo</a:t>
            </a:r>
            <a:r>
              <a:rPr lang="zh-CN" altLang="en-US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视频（如有</a:t>
            </a:r>
            <a:r>
              <a:rPr lang="en-US" altLang="zh-CN" sz="1250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altLang="zh-CN" sz="1250" dirty="0">
              <a:solidFill>
                <a:schemeClr val="bg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345375" y="363855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46543" y="455295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46543" y="674751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场景价值与行业可复制性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774375" y="528447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8" name="Text 6"/>
          <p:cNvSpPr/>
          <p:nvPr/>
        </p:nvSpPr>
        <p:spPr>
          <a:xfrm>
            <a:off x="10774375" y="528447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340360" y="2748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40360" y="5491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场景与价值</a:t>
            </a:r>
            <a:endParaRPr lang="en-US" sz="2900" dirty="0"/>
          </a:p>
        </p:txBody>
      </p:sp>
      <p:sp>
        <p:nvSpPr>
          <p:cNvPr id="5" name="文本框 4"/>
          <p:cNvSpPr txBox="1"/>
          <p:nvPr/>
        </p:nvSpPr>
        <p:spPr>
          <a:xfrm>
            <a:off x="244475" y="118935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00" b="0">
                <a:latin typeface="微软雅黑" pitchFamily="34" charset="0"/>
                <a:ea typeface="微软雅黑" pitchFamily="34" charset="0"/>
              </a:rPr>
              <a:t>本章要点：企业级 Agent 交付的可验证审计层——三场景真实痛点与差异化，见下方两张图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68115" y="5574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（</a:t>
            </a:r>
            <a:r>
              <a:rPr lang="zh-CN" altLang="en-US"/>
              <a:t>示例</a:t>
            </a:r>
            <a:r>
              <a:rPr lang="en-US" altLang="zh-CN"/>
              <a:t>）</a:t>
            </a:r>
            <a:endParaRPr lang="en-US" altLang="zh-CN"/>
          </a:p>
        </p:txBody>
      </p:sp>
      <p:pic>
        <p:nvPicPr>
          <p:cNvPr id="9" name="Picture 8" descr="scene_scenar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" y="2390775"/>
            <a:ext cx="5560060" cy="3127375"/>
          </a:xfrm>
          <a:prstGeom prst="rect">
            <a:avLst/>
          </a:prstGeom>
        </p:spPr>
      </p:pic>
      <p:pic>
        <p:nvPicPr>
          <p:cNvPr id="10" name="Picture 9" descr="scene_di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505" y="2390775"/>
            <a:ext cx="5485765" cy="3101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6278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3710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总览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 · 承上启下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方案总览</a:t>
            </a:r>
            <a:endParaRPr lang="en-US" sz="2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00" b="0">
                <a:latin typeface="微软雅黑" pitchFamily="34" charset="0"/>
                <a:ea typeface="微软雅黑" pitchFamily="34" charset="0"/>
              </a:rPr>
              <a:t>本章要点：端到端主流程 = 授权 → 编排执行 → 验证审计；AgentTeams 与 OWP 分层分工（架构图）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9" name="Picture 38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415" y="1801495"/>
            <a:ext cx="7837805" cy="4418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672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415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协同与自主闭环能力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协同设计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00" b="0">
                <a:latin typeface="微软雅黑" pitchFamily="34" charset="0"/>
                <a:ea typeface="微软雅黑" pitchFamily="34" charset="0"/>
              </a:rPr>
              <a:t>本章要点：4 个不同职能 Agent（Manager / dev-worker / verifier-worker / owp-verifier 确定性机器验证），六职能角色分工见右图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/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/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40" name="Picture 39" descr="multiagent_t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" y="2304415"/>
            <a:ext cx="5283200" cy="2964180"/>
          </a:xfrm>
          <a:prstGeom prst="rect">
            <a:avLst/>
          </a:prstGeom>
        </p:spPr>
      </p:pic>
      <p:pic>
        <p:nvPicPr>
          <p:cNvPr id="41" name="Picture 40" descr="multiagent_ro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370" y="2304415"/>
            <a:ext cx="5285740" cy="2964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6786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4218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工程体系与生态复用</a:t>
            </a:r>
            <a:endParaRPr lang="en-US" sz="1250" dirty="0"/>
          </a:p>
        </p:txBody>
      </p:sp>
      <p:sp>
        <p:nvSpPr>
          <p:cNvPr id="14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5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 · 本赛题必选项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工程体系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5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00" b="0">
                <a:latin typeface="微软雅黑" pitchFamily="34" charset="0"/>
                <a:ea typeface="微软雅黑" pitchFamily="34" charset="0"/>
              </a:rPr>
              <a:t>本章要点：S1–S8 全清单 + 25 个 MCP 工具映射；每个 Skill 含输入输出 / 失败处理 / 复用价值</a:t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/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/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/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/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/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/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/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/>
            </a:r>
            <a:r>
              <a:rPr lang="en-US" altLang="zh-CN">
                <a:latin typeface="微软雅黑" pitchFamily="34" charset="0"/>
                <a:ea typeface="微软雅黑" pitchFamily="34" charset="0"/>
              </a:rPr>
              <a:t/>
            </a:r>
            <a:r>
              <a:rPr lang="zh-CN" altLang="en-US">
                <a:latin typeface="微软雅黑" pitchFamily="34" charset="0"/>
                <a:ea typeface="微软雅黑" pitchFamily="34" charset="0"/>
              </a:rPr>
              <a:t/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9" name="Picture 38" descr="skills_s1s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165" y="2377440"/>
            <a:ext cx="5741670" cy="3235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0"/>
          <p:cNvSpPr/>
          <p:nvPr/>
        </p:nvSpPr>
        <p:spPr>
          <a:xfrm>
            <a:off x="594360" y="2991993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94360" y="3266313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工程落地与安全可审计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11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工程落地、运行验证与安全可审计</a:t>
            </a:r>
            <a:endParaRPr lang="en-US" sz="29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25780" y="1204595"/>
            <a:ext cx="8013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00" b="0">
                <a:latin typeface="微软雅黑" pitchFamily="34" charset="0"/>
                <a:ea typeface="微软雅黑" pitchFamily="34" charset="0"/>
              </a:rPr>
              <a:t>本章要点：可运行性（3056 测试）、运行证据（不可变账本）、可观测（三接口）、安全治理（Fail-Closed）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43" name="Picture 42" descr="eng_verific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200" y="1988820"/>
            <a:ext cx="3830087" cy="2160000"/>
          </a:xfrm>
          <a:prstGeom prst="rect">
            <a:avLst/>
          </a:prstGeom>
        </p:spPr>
      </p:pic>
      <p:pic>
        <p:nvPicPr>
          <p:cNvPr id="44" name="Picture 43" descr="eng_evide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535" y="1996440"/>
            <a:ext cx="3837275" cy="2160000"/>
          </a:xfrm>
          <a:prstGeom prst="rect">
            <a:avLst/>
          </a:prstGeom>
        </p:spPr>
      </p:pic>
      <p:pic>
        <p:nvPicPr>
          <p:cNvPr id="45" name="Picture 44" descr="eng_observabi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8200" y="4288155"/>
            <a:ext cx="3838315" cy="2160000"/>
          </a:xfrm>
          <a:prstGeom prst="rect">
            <a:avLst/>
          </a:prstGeom>
        </p:spPr>
      </p:pic>
      <p:pic>
        <p:nvPicPr>
          <p:cNvPr id="46" name="Picture 45" descr="eng_secur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535" y="4303395"/>
            <a:ext cx="38318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2" name="Text 0"/>
          <p:cNvSpPr/>
          <p:nvPr/>
        </p:nvSpPr>
        <p:spPr>
          <a:xfrm>
            <a:off x="594360" y="298373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325805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16" name="Shape 2"/>
          <p:cNvSpPr/>
          <p:nvPr/>
        </p:nvSpPr>
        <p:spPr>
          <a:xfrm>
            <a:off x="7116775" y="457200"/>
            <a:ext cx="4480560" cy="786384"/>
          </a:xfrm>
          <a:prstGeom prst="roundRect">
            <a:avLst>
              <a:gd name="adj" fmla="val 11628"/>
            </a:avLst>
          </a:prstGeom>
          <a:solidFill>
            <a:srgbClr val="FFEDE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7317943" y="54864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对应评分维度</a:t>
            </a:r>
            <a:endParaRPr lang="en-US" sz="1000" dirty="0"/>
          </a:p>
        </p:txBody>
      </p:sp>
      <p:sp>
        <p:nvSpPr>
          <p:cNvPr id="18" name="Text 4"/>
          <p:cNvSpPr/>
          <p:nvPr/>
        </p:nvSpPr>
        <p:spPr>
          <a:xfrm>
            <a:off x="7317943" y="768096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开源贡献</a:t>
            </a:r>
            <a:endParaRPr lang="en-US" sz="1250" dirty="0"/>
          </a:p>
        </p:txBody>
      </p:sp>
      <p:sp>
        <p:nvSpPr>
          <p:cNvPr id="19" name="Shape 5"/>
          <p:cNvSpPr/>
          <p:nvPr/>
        </p:nvSpPr>
        <p:spPr>
          <a:xfrm>
            <a:off x="10545775" y="62179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</p:spPr>
      </p:sp>
      <p:sp>
        <p:nvSpPr>
          <p:cNvPr id="20" name="Text 6"/>
          <p:cNvSpPr/>
          <p:nvPr/>
        </p:nvSpPr>
        <p:spPr>
          <a:xfrm>
            <a:off x="10545775" y="62179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5%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 / 开源计划</a:t>
            </a:r>
            <a:endParaRPr lang="en-US" sz="29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latin typeface="Microsoft YaHei"/>
              </a:rPr>
              <a:t>可复用成果：协议层（WorkOrder/Grant/Receipt/Acceptance 四原语）、双 AgentTeams 适配器（agt 管理面 + Matrix 执行面）、供应链镜像工具（prepare_context / convert_docker_archive）、8 个 Skill 与 25 个 MCP 工具</a:t>
            </a:r>
          </a:p>
          <a:p>
            <a:pPr/>
            <a:r>
              <a:rPr sz="1500">
                <a:latin typeface="Microsoft YaHei"/>
              </a:rPr>
              <a:t>接口契约与文档：README 中英双语、MCP_SERVER.md、offline-verification.md、docs/status.md（真值边界）、docs/competition/ 全套参赛材料</a:t>
            </a:r>
          </a:p>
          <a:p>
            <a:pPr/>
            <a:r>
              <a:rPr sz="1500">
                <a:latin typeface="Microsoft YaHei"/>
              </a:rPr>
              <a:t>开源协议：Apache-2.0；代码仓库 github.com/dengyier/OpenWorkProof（2,283+ 测试，交付验证 M1–M4 已签署）</a:t>
            </a:r>
          </a:p>
          <a:p>
            <a:pPr/>
            <a:r>
              <a:rPr sz="1500">
                <a:latin typeface="Microsoft YaHei"/>
              </a:rPr>
              <a:t>第三方依赖：Python 标准库为主 + cryptography / pydantic / FastMCP；AgentTeams（Apache-2.0）仅做集成，不拥有其信任根</a:t>
            </a:r>
          </a:p>
          <a:p>
            <a:pPr/>
            <a:r>
              <a:rPr sz="1500">
                <a:latin typeface="Microsoft YaHei"/>
              </a:rPr>
              <a:t>生态：对阿里云官方 Skills 对齐设计；AgentTeams 为必选协同基点，已实证接入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第七章 · 对应「当前进展」与整体可行性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落地计划与进展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文本框 37"/>
          <p:cNvSpPr txBox="1"/>
          <p:nvPr/>
        </p:nvSpPr>
        <p:spPr>
          <a:xfrm>
            <a:off x="594360" y="1298575"/>
            <a:ext cx="8013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00" b="0">
                <a:sym typeface="+mn-ea"/>
              </a:rPr>
              <a:t>本章要点：对照官方赛程的里程碑推进 + 风险控制与诚实边界</a:t>
            </a:r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39" name="Picture 38" descr="plan_milesto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" y="2328545"/>
            <a:ext cx="4911725" cy="2768600"/>
          </a:xfrm>
          <a:prstGeom prst="rect">
            <a:avLst/>
          </a:prstGeom>
        </p:spPr>
      </p:pic>
      <p:pic>
        <p:nvPicPr>
          <p:cNvPr id="40" name="Picture 39" descr="plan_ris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9210" y="2458720"/>
            <a:ext cx="5327015" cy="24822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3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0"/>
          <p:cNvSpPr/>
          <p:nvPr/>
        </p:nvSpPr>
        <p:spPr>
          <a:xfrm>
            <a:off x="594360" y="29926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第八章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" y="326694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94360" y="38404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</a:t>
            </a:r>
            <a:r>
              <a:rPr lang="zh-CN" alt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</a:t>
            </a:r>
            <a:r>
              <a:rPr lang="en-US" sz="1200" b="1" kern="0" spc="100" dirty="0">
                <a:solidFill>
                  <a:srgbClr val="FF6B3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</a:t>
            </a:r>
            <a:r>
              <a:rPr lang="zh-CN" altLang="en-US" sz="2900" b="1" dirty="0">
                <a:solidFill>
                  <a:srgbClr val="1B1F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介绍</a:t>
            </a:r>
            <a:endParaRPr lang="zh-CN" altLang="en-US" sz="2900" b="1" dirty="0">
              <a:solidFill>
                <a:srgbClr val="1B1F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Microsoft YaHei"/>
              </a:rPr>
              <a:t>核心团队</a:t>
            </a:r>
          </a:p>
          <a:p>
            <a:pPr lvl="1"/>
            <a:r>
              <a:rPr sz="1400">
                <a:latin typeface="Microsoft YaHei"/>
              </a:rPr>
              <a:t>· 创始人 / 技术 Owner —— OpenWorkProof 发起人，负责协议架构与总体设计；20 年从业经验，擅长跨领域工程与产品化</a:t>
            </a:r>
          </a:p>
          <a:p>
            <a:pPr lvl="1"/>
            <a:r>
              <a:rPr sz="1400">
                <a:latin typeface="Microsoft YaHei"/>
              </a:rPr>
              <a:t>· 董浩宇 博士 —— 验证方法学；主导交付验证计划（M1–M4）、Ed25519 签署与验收权威分离设计</a:t>
            </a:r>
          </a:p>
          <a:p>
            <a:pPr lvl="1"/>
            <a:r>
              <a:rPr sz="1400">
                <a:latin typeface="Microsoft YaHei"/>
              </a:rPr>
              <a:t>· 邓海波 —— 供应链与镜像交付；负责 candidate inventory、wheelhouse/deb 闭包与 Docker 供应链门</a:t>
            </a:r>
          </a:p>
          <a:p>
            <a:pPr lvl="1"/>
            <a:r>
              <a:rPr sz="1400">
                <a:latin typeface="Microsoft YaHei"/>
              </a:rPr>
              <a:t>· 龙胜海 —— 协议与安全边界；负责授权链、攻击矩阵（C0+A1–A18）与权限模型评审</a:t>
            </a:r>
          </a:p>
          <a:p>
            <a:pPr/>
            <a:r>
              <a:rPr sz="1400">
                <a:latin typeface="Microsoft YaHei"/>
              </a:rPr>
              <a:t>团队分工</a:t>
            </a:r>
          </a:p>
          <a:p>
            <a:pPr lvl="1"/>
            <a:r>
              <a:rPr sz="1400">
                <a:latin typeface="Microsoft YaHei"/>
              </a:rPr>
              <a:t>· 协议设计 / 执行证据 / 审计账本：创始人 + 龙胜海</a:t>
            </a:r>
          </a:p>
          <a:p>
            <a:pPr lvl="1"/>
            <a:r>
              <a:rPr sz="1400">
                <a:latin typeface="Microsoft YaHei"/>
              </a:rPr>
              <a:t>· 交付验证 / 测试门 / 签署：董浩宇</a:t>
            </a:r>
          </a:p>
          <a:p>
            <a:pPr lvl="1"/>
            <a:r>
              <a:rPr sz="1400">
                <a:latin typeface="Microsoft YaHei"/>
              </a:rPr>
              <a:t>· 供应链 / 容器 / 发布工程：邓海波</a:t>
            </a:r>
          </a:p>
          <a:p>
            <a:pPr lvl="1"/>
            <a:r>
              <a:rPr sz="1400">
                <a:latin typeface="Microsoft YaHei"/>
              </a:rPr>
              <a:t>· AgentTeams 接入 / 复赛 Demo / 商业试点：全团队 + 顾问支持</a:t>
            </a:r>
          </a:p>
          <a:p>
            <a:pPr/>
            <a:r>
              <a:rPr sz="1400">
                <a:latin typeface="Microsoft YaHei"/>
              </a:rPr>
              <a:t>团队成果</a:t>
            </a:r>
          </a:p>
          <a:p>
            <a:pPr lvl="1"/>
            <a:r>
              <a:rPr sz="1400">
                <a:latin typeface="Microsoft YaHei"/>
              </a:rPr>
              <a:t>· OpenWorkProof（Apache-2.0）：v0.1–v0.4 全协议栈，3056 测试 0 失败，独立双审 READY，发布候选已推送远端 main</a:t>
            </a:r>
          </a:p>
          <a:p>
            <a:pPr lvl="1"/>
            <a:r>
              <a:rPr sz="1400">
                <a:latin typeface="Microsoft YaHei"/>
              </a:rPr>
              <a:t>· AgentTeams（hiclaw）真实接入：双适配器 14 测试通过，Matrix 程序化闭环验证，Manager 自动分派真实修复任务（证据存档）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1181</Words>
  <Application>WPS 文字</Application>
  <PresentationFormat>On-screen Show (16:9)</PresentationFormat>
  <Paragraphs>230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初赛方案 PPT 内容框架模板</dc:title>
  <dc:creator>Datawhale</dc:creator>
  <dc:subject>PptxGenJS Presentation</dc:subject>
  <cp:lastModifiedBy>cindy</cp:lastModifiedBy>
  <cp:revision>5</cp:revision>
  <dcterms:created xsi:type="dcterms:W3CDTF">2026-08-01T12:03:46Z</dcterms:created>
  <dcterms:modified xsi:type="dcterms:W3CDTF">2026-08-01T12:03:46Z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3283D07A5C6A9C54A2E06D6A5481CE4C_43</vt:lpwstr>
  </property>
  <property fmtid="{D5CDD505-2E9C-101B-9397-08002B2CF9AE}" pid="3" name="KSOProductBuildVer">
    <vt:lpwstr>2052-12.1.22218.22218</vt:lpwstr>
  </property>
</Properties>
</file>