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4"/>
  </p:notesMasterIdLst>
  <p:sldIdLst>
    <p:sldId id="256" r:id="rId1"/>
    <p:sldId id="257" r:id="rId2"/>
    <p:sldId id="258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6" Type="http://schemas.openxmlformats.org/officeDocument/2006/relationships/tableStyles" Target="tableStyles.xml" /><Relationship Id="rId7" Type="http://schemas.openxmlformats.org/officeDocument/2006/relationships/viewProps" Target="viewProps.xml" /><Relationship Id="rId5" Type="http://schemas.openxmlformats.org/officeDocument/2006/relationships/presProps" Target="presProps.xml" /><Relationship Id="rId3" Type="http://schemas.openxmlformats.org/officeDocument/2006/relationships/slide" Target="slides/slide3.xml" /><Relationship Id="rId1" Type="http://schemas.openxmlformats.org/officeDocument/2006/relationships/slide" Target="slides/slide1.xml" /><Relationship Id="rId4" Type="http://schemas.openxmlformats.org/officeDocument/2006/relationships/notesMaster" Target="notesMasters/notesMaster1.xml" /><Relationship Id="rId2" Type="http://schemas.openxmlformats.org/officeDocument/2006/relationships/slide" Target="slides/slide2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 descr="&lt;Slide style={{ padding: '0px', position: 'relative', background: '#FFFFFF', fontFamily: '思源黑体', width: '1280px', height: '720px' }}&gt;&#10;  &lt;Box style={{ position: 'absolute', top: 0, right: 0, width: 460, height: 720, background: 'linear-gradient(135deg, #3B82F6 0%, #06B6D4 100%)' }} /&gt;&#10;  &lt;Box style={{ position: 'absolute', top: 0, right: 0, width: 460, height: 720, background: 'rgba(255,255,255,0.06)' }} /&gt;&#10;  &lt;Box style={{ position: 'absolute', bottom: 36, right: 48, flexDirection: 'row', alignItems: 'center', gap: 12 }}&gt;&#10;    &lt;Box style={{ width: 6, height: 28, background: 'rgba(255,255,255,0.7)', borderRadius: 3 }} /&gt;&#10;    &lt;Text style={{ fontSize: 14, color: '#FFFFFF', opacity: 0.85 }}&gt;github.com/dengyier/OpenWorkProof&lt;/Text&gt;&#10;  &lt;/Box&gt;&#10;  &lt;Box style={{ position: 'relative', padding: '72px 80px', width: 820, height: 720, flexDirection: 'column', justifyContent: 'space-between' }}&gt;&#10;    &lt;Box&gt;&#10;      &lt;Text style={{ fontSize: 18, color: '#06B6D4', fontWeight: 'bold', letterSpacing: 2 }}&gt;世界人工智能开源大赛 · Agent Infra（新智基座）赛道&lt;/Text&gt;&#10;      &lt;Text style={{ fontSize: 66, color: '#0F172A', fontWeight: 'bold', lineHeight: 1.15, marginTop: 28 }}&gt;OpenWorkProof&lt;/Text&gt;&#10;      &lt;Text style={{ fontSize: 30, color: '#3B82F6', fontWeight: 'bold', marginTop: 14 }}&gt;Agent 工作契约与可验证执行协议&lt;/Text&gt;&#10;      &lt;Text style={{ fontSize: 20, color: '#64748B', marginTop: 20, lineHeight: 1.7, width: 700 }}&gt;&#10;        授权 / 执行 / 验证 / 审计 的端到端闭环 —— 让「Agent 完成了」成为可离线复核的事实，而非一句承诺&#10;      &lt;/Text&gt;&#10;    &lt;/Box&gt;&#10;    &lt;Box style={{ flexDirection: 'row', alignItems: 'center', gap: 16 }}&gt;&#10;      &lt;Box style={{ width: 8, height: 44, background: '#06B6D4', borderRadius: 4 }} /&gt;&#10;      &lt;Box style={{ flexDirection: 'column' }}&gt;&#10;        &lt;Text style={{ fontSize: 18, color: '#0F172A', fontWeight: 'bold' }}&gt;3056 项测试零失败 · AgentTeams 真实接入 · 真实 Issue 可复现演示&lt;/Text&gt;&#10;        &lt;Text style={{ fontSize: 15, color: '#94A3B8', marginTop: 4 }}&gt;初赛提交 · 2026-08&lt;/Text&gt;&#10;      &lt;/Box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7810500" y="0"/>
            <a:ext cx="4381500" cy="6858000"/>
          </a:xfrm>
          <a:prstGeom prst="rect">
            <a:avLst/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7810500" y="0"/>
            <a:ext cx="4381500" cy="685800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9363075" y="6248400"/>
            <a:ext cx="57150" cy="266700"/>
          </a:xfrm>
          <a:prstGeom prst="roundRect">
            <a:avLst>
              <a:gd name="adj" fmla="val 50000"/>
            </a:avLst>
          </a:prstGeom>
          <a:solidFill>
            <a:srgbClr val="FFFFFF">
              <a:alpha val="70000"/>
            </a:srgbClr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9534525" y="6305550"/>
            <a:ext cx="2200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85000"/>
                  </a:srgbClr>
                </a:solidFill>
                <a:latin typeface="思源黑体"/>
                <a:ea typeface="思源黑体"/>
              </a:rPr>
              <a:t>github.com/dengyier/OpenWorkProof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685800"/>
            <a:ext cx="62865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 spc="150">
                <a:solidFill>
                  <a:srgbClr val="06B6D4"/>
                </a:solidFill>
                <a:latin typeface="思源黑体"/>
                <a:ea typeface="思源黑体"/>
              </a:rPr>
              <a:t>世界人工智能开源大赛</a:t>
            </a:r>
            <a:r>
              <a:rPr lang="en-US" sz="1350" b="1" spc="150">
                <a:solidFill>
                  <a:srgbClr val="06B6D4"/>
                </a:solidFill>
                <a:latin typeface="思源黑体"/>
                <a:ea typeface="思源黑体"/>
              </a:rPr>
              <a:t> · Agent Infra</a:t>
            </a:r>
            <a:r>
              <a:rPr lang="zh-CN" sz="1350" b="1" spc="150">
                <a:solidFill>
                  <a:srgbClr val="06B6D4"/>
                </a:solidFill>
                <a:latin typeface="思源黑体"/>
                <a:ea typeface="思源黑体"/>
              </a:rPr>
              <a:t>（新智基座）赛道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762000" y="1162050"/>
            <a:ext cx="6286500" cy="8763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en-US" sz="4950" b="1">
                <a:solidFill>
                  <a:srgbClr val="0F172A"/>
                </a:solidFill>
                <a:latin typeface="思源黑体"/>
                <a:ea typeface="思源黑体"/>
              </a:rPr>
              <a:t>OpenWorkProof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2171700"/>
            <a:ext cx="6286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3B82F6"/>
                </a:solidFill>
                <a:latin typeface="思源黑体"/>
                <a:ea typeface="思源黑体"/>
              </a:rPr>
              <a:t>Agent </a:t>
            </a:r>
            <a:r>
              <a:rPr lang="zh-CN" sz="2250" b="1">
                <a:solidFill>
                  <a:srgbClr val="3B82F6"/>
                </a:solidFill>
                <a:latin typeface="思源黑体"/>
                <a:ea typeface="思源黑体"/>
              </a:rPr>
              <a:t>工作契约与可验证执行协议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62000" y="2705100"/>
            <a:ext cx="6667500" cy="7810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500">
                <a:solidFill>
                  <a:srgbClr val="64748B"/>
                </a:solidFill>
                <a:latin typeface="思源黑体"/>
                <a:ea typeface="思源黑体"/>
              </a:rPr>
              <a:t>授权</a:t>
            </a:r>
            <a:r>
              <a:rPr lang="en-US" sz="1500">
                <a:solidFill>
                  <a:srgbClr val="64748B"/>
                </a:solidFill>
                <a:latin typeface="思源黑体"/>
                <a:ea typeface="思源黑体"/>
              </a:rPr>
              <a:t> / </a:t>
            </a:r>
            <a:r>
              <a:rPr lang="zh-CN" sz="1500">
                <a:solidFill>
                  <a:srgbClr val="64748B"/>
                </a:solidFill>
                <a:latin typeface="思源黑体"/>
                <a:ea typeface="思源黑体"/>
              </a:rPr>
              <a:t>执行</a:t>
            </a:r>
            <a:r>
              <a:rPr lang="en-US" sz="1500">
                <a:solidFill>
                  <a:srgbClr val="64748B"/>
                </a:solidFill>
                <a:latin typeface="思源黑体"/>
                <a:ea typeface="思源黑体"/>
              </a:rPr>
              <a:t> / </a:t>
            </a:r>
            <a:r>
              <a:rPr lang="zh-CN" sz="1500">
                <a:solidFill>
                  <a:srgbClr val="64748B"/>
                </a:solidFill>
                <a:latin typeface="思源黑体"/>
                <a:ea typeface="思源黑体"/>
              </a:rPr>
              <a:t>验证</a:t>
            </a:r>
            <a:r>
              <a:rPr lang="en-US" sz="1500">
                <a:solidFill>
                  <a:srgbClr val="64748B"/>
                </a:solidFill>
                <a:latin typeface="思源黑体"/>
                <a:ea typeface="思源黑体"/>
              </a:rPr>
              <a:t> / </a:t>
            </a:r>
            <a:r>
              <a:rPr lang="zh-CN" sz="1500">
                <a:solidFill>
                  <a:srgbClr val="64748B"/>
                </a:solidFill>
                <a:latin typeface="思源黑体"/>
                <a:ea typeface="思源黑体"/>
              </a:rPr>
              <a:t>审计</a:t>
            </a:r>
            <a:r>
              <a:rPr lang="en-US" sz="1500">
                <a:solidFill>
                  <a:srgbClr val="64748B"/>
                </a:solidFill>
                <a:latin typeface="思源黑体"/>
                <a:ea typeface="思源黑体"/>
              </a:rPr>
              <a:t> </a:t>
            </a:r>
            <a:r>
              <a:rPr lang="zh-CN" sz="1500">
                <a:solidFill>
                  <a:srgbClr val="64748B"/>
                </a:solidFill>
                <a:latin typeface="思源黑体"/>
                <a:ea typeface="思源黑体"/>
              </a:rPr>
              <a:t>的端到端闭环</a:t>
            </a:r>
            <a:r>
              <a:rPr lang="en-US" sz="1500">
                <a:solidFill>
                  <a:srgbClr val="64748B"/>
                </a:solidFill>
                <a:latin typeface="思源黑体"/>
                <a:ea typeface="思源黑体"/>
              </a:rPr>
              <a:t> —— </a:t>
            </a:r>
            <a:r>
              <a:rPr lang="zh-CN" sz="1500">
                <a:solidFill>
                  <a:srgbClr val="64748B"/>
                </a:solidFill>
                <a:latin typeface="思源黑体"/>
                <a:ea typeface="思源黑体"/>
              </a:rPr>
              <a:t>让「</a:t>
            </a:r>
            <a:r>
              <a:rPr lang="en-US" sz="1500">
                <a:solidFill>
                  <a:srgbClr val="64748B"/>
                </a:solidFill>
                <a:latin typeface="思源黑体"/>
                <a:ea typeface="思源黑体"/>
              </a:rPr>
              <a:t>Agent </a:t>
            </a:r>
            <a:r>
              <a:rPr lang="zh-CN" sz="1500">
                <a:solidFill>
                  <a:srgbClr val="64748B"/>
                </a:solidFill>
                <a:latin typeface="思源黑体"/>
                <a:ea typeface="思源黑体"/>
              </a:rPr>
              <a:t>完成了」成为可离线复核的事实，而非一句承诺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762000" y="5753100"/>
            <a:ext cx="76200" cy="4191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990600" y="5753100"/>
            <a:ext cx="52292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>
                <a:solidFill>
                  <a:srgbClr val="0F172A"/>
                </a:solidFill>
                <a:latin typeface="思源黑体"/>
                <a:ea typeface="思源黑体"/>
              </a:rPr>
              <a:t>3056 </a:t>
            </a:r>
            <a:r>
              <a:rPr lang="zh-CN" sz="1350" b="1">
                <a:solidFill>
                  <a:srgbClr val="0F172A"/>
                </a:solidFill>
                <a:latin typeface="思源黑体"/>
                <a:ea typeface="思源黑体"/>
              </a:rPr>
              <a:t>项测试零失败</a:t>
            </a:r>
            <a:r>
              <a:rPr lang="en-US" sz="1350" b="1">
                <a:solidFill>
                  <a:srgbClr val="0F172A"/>
                </a:solidFill>
                <a:latin typeface="思源黑体"/>
                <a:ea typeface="思源黑体"/>
              </a:rPr>
              <a:t> · AgentTeams </a:t>
            </a:r>
            <a:r>
              <a:rPr lang="zh-CN" sz="1350" b="1">
                <a:solidFill>
                  <a:srgbClr val="0F172A"/>
                </a:solidFill>
                <a:latin typeface="思源黑体"/>
                <a:ea typeface="思源黑体"/>
              </a:rPr>
              <a:t>真实接入</a:t>
            </a:r>
            <a:r>
              <a:rPr lang="en-US" sz="1350" b="1">
                <a:solidFill>
                  <a:srgbClr val="0F172A"/>
                </a:solidFill>
                <a:latin typeface="思源黑体"/>
                <a:ea typeface="思源黑体"/>
              </a:rPr>
              <a:t> · </a:t>
            </a:r>
            <a:r>
              <a:rPr lang="zh-CN" sz="1350" b="1">
                <a:solidFill>
                  <a:srgbClr val="0F172A"/>
                </a:solidFill>
                <a:latin typeface="思源黑体"/>
                <a:ea typeface="思源黑体"/>
              </a:rPr>
              <a:t>真实</a:t>
            </a:r>
            <a:r>
              <a:rPr lang="en-US" sz="1350" b="1">
                <a:solidFill>
                  <a:srgbClr val="0F172A"/>
                </a:solidFill>
                <a:latin typeface="思源黑体"/>
                <a:ea typeface="思源黑体"/>
              </a:rPr>
              <a:t> Issue </a:t>
            </a:r>
            <a:r>
              <a:rPr lang="zh-CN" sz="1350" b="1">
                <a:solidFill>
                  <a:srgbClr val="0F172A"/>
                </a:solidFill>
                <a:latin typeface="思源黑体"/>
                <a:ea typeface="思源黑体"/>
              </a:rPr>
              <a:t>可复现演示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990600" y="6000750"/>
            <a:ext cx="52292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94A3B8"/>
                </a:solidFill>
                <a:latin typeface="思源黑体"/>
                <a:ea typeface="思源黑体"/>
              </a:rPr>
              <a:t>初赛提交</a:t>
            </a:r>
            <a:r>
              <a:rPr lang="en-US" sz="1125">
                <a:solidFill>
                  <a:srgbClr val="94A3B8"/>
                </a:solidFill>
                <a:latin typeface="思源黑体"/>
                <a:ea typeface="思源黑体"/>
              </a:rPr>
              <a:t> · 2026-08</a:t>
            </a:r>
            <a:endParaRPr/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4" name="" descr="&lt;Slide style={{ padding: '20px 72px', background: '#FFFFFF', fontFamily: '思源黑体', width: '1280px', height: '720px' }}&gt;&#10;  &lt;Box style={{ height: 100, flexDirection: 'row', alignItems: 'center', justifyContent: 'space-between' }}&gt;&#10;    &lt;Box style={{ flexDirection: 'column' }}&gt;&#10;      &lt;Text style={{ fontSize: 36, color: '#0F172A', fontWeight: 'bold' }}&gt;多 Agent 生产化的最大瓶颈&lt;/Text&gt;&#10;      &lt;Text style={{ fontSize: 17, color: '#64748B', marginTop: 6 }}&gt;Agent 说「我完成了」—— 凭什么相信它？&lt;/Text&gt;&#10;    &lt;/Box&gt;&#10;    &lt;Text style={{ fontSize: 14, color: '#94A3B8' }}&gt;02 / 09&lt;/Text&gt;&#10;  &lt;/Box&gt;&#10;  &lt;Box style={{ height: 500, flexDirection: 'row', gap: 32, marginTop: 20 }}&gt;&#10;    &lt;Box style={{ flex: 3, flexDirection: 'column', gap: 22 }}&gt;&#10;      &lt;Box style={{ flex: 1, background: '#F8FAFC', borderRadius: 14, padding: 24, flexDirection: 'column', justifyContent: 'space-between' }}&gt;&#10;        &lt;Text style={{ fontSize: 26, color: '#0F172A', fontWeight: 'bold' }}&gt;授权不明&lt;/Text&gt;&#10;        &lt;Text style={{ fontSize: 19, color: '#475569', lineHeight: 1.6 }}&gt;每步操作依据哪一级授权？是否在配额内？谁能证明「这次执行是经过批准的」？&lt;/Text&gt;&#10;      &lt;/Box&gt;&#10;      &lt;Box style={{ flex: 1, background: '#F8FAFC', borderRadius: 14, padding: 24, flexDirection: 'column', justifyContent: 'space-between' }}&gt;&#10;        &lt;Text style={{ fontSize: 26, color: '#0F172A', fontWeight: 'bold' }}&gt;证据缺失&lt;/Text&gt;&#10;        &lt;Text style={{ fontSize: 19, color: '#475569', lineHeight: 1.6 }}&gt;测试、补丁、报告是否形成完整因果链？执行证据能否在纠纷时离线复核？&lt;/Text&gt;&#10;      &lt;/Box&gt;&#10;      &lt;Box style={{ flex: 1, background: '#F8FAFC', borderRadius: 14, padding: 24, flexDirection: 'column', justifyContent: 'space-between' }}&gt;&#10;        &lt;Text style={{ fontSize: 26, color: '#0F172A', fontWeight: 'bold' }}&gt;验收无据&lt;/Text&gt;&#10;        &lt;Text style={{ fontSize: 19, color: '#475569', lineHeight: 1.6 }}&gt;谁有权作最终接受或拒绝？接受/拒绝本身是否有可审计的签名与理由？&lt;/Text&gt;&#10;      &lt;/Box&gt;&#10;    &lt;/Box&gt;&#10;    &lt;Box style={{ flex: 2, flexDirection: 'column', gap: 22 }}&gt;&#10;      &lt;Box style={{ flex: 3, background: 'linear-gradient(135deg, #3B82F6 0%, #06B6D4 100%)', borderRadius: 14, padding: 28, flexDirection: 'column', justifyContent: 'center' }}&gt;&#10;        &lt;Text style={{ fontSize: 96, color: '#FFFFFF', fontWeight: 'bold', lineHeight: 1 }}&gt;40%&lt;/Text&gt;&#10;        &lt;Text style={{ fontSize: 20, color: 'rgba(255,255,255,0.92)', marginTop: 12, lineHeight: 1.6 }}&gt;Gartner 预测 2026 年底 40% 企业软件嵌入 AI Agent&lt;/Text&gt;&#10;      &lt;/Box&gt;&#10;      &lt;Box style={{ flex: 2, background: '#0F172A', borderRadius: 14, padding: 26, flexDirection: 'column', justifyContent: 'center' }}&gt;&#10;        &lt;Text style={{ fontSize: 18, color: '#06B6D4', fontWeight: 'bold', letterSpacing: 1 }}&gt;EU AI ACT&lt;/Text&gt;&#10;        &lt;Text style={{ fontSize: 19, color: 'rgba(255,255,255,0.9)', marginTop: 10, lineHeight: 1.6 }}&gt;高风险条款已生效：无法证明「Agent 被授权、被约束、可问责」的企业面临合规风险&lt;/Text&gt;&#10;      &lt;/Box&gt;&#10;      &lt;Box style={{ flex: 1, background: '#F1F5F9', borderRadius: 14, padding: 18, flexDirection: 'row', alignItems: 'center', gap: 12 }}&gt;&#10;        &lt;Text style={{ fontSize: 24, color: '#06B6D4', fontWeight: 'bold' }}&gt;？&lt;/Text&gt;&#10;        &lt;Text style={{ fontSize: 18, color: '#475569' }}&gt;现有信任基础设施聚焦身份层与支付层，独缺「工作」契约层&lt;/Text&gt;&#10;      &lt;/Box&gt;&#10;    &lt;/Box&gt;&#10;  &lt;/Box&gt;&#10;  &lt;Box style={{ height: 60, flexDirection: 'row', alignItems: 'flex-end', justifyContent: 'space-between' }}&gt;&#10;    &lt;Text style={{ fontSize: 14, color: '#94A3B8' }}&gt;OpenWorkProof · Agent 工作契约与可验证执行协议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85800" y="333375"/>
            <a:ext cx="424815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思源黑体"/>
                <a:ea typeface="思源黑体"/>
              </a:rPr>
              <a:t>多</a:t>
            </a:r>
            <a:r>
              <a:rPr lang="en-US" sz="2700" b="1">
                <a:solidFill>
                  <a:srgbClr val="0F172A"/>
                </a:solidFill>
                <a:latin typeface="思源黑体"/>
                <a:ea typeface="思源黑体"/>
              </a:rPr>
              <a:t> Agent </a:t>
            </a:r>
            <a:r>
              <a:rPr lang="zh-CN" sz="2700" b="1">
                <a:solidFill>
                  <a:srgbClr val="0F172A"/>
                </a:solidFill>
                <a:latin typeface="思源黑体"/>
                <a:ea typeface="思源黑体"/>
              </a:rPr>
              <a:t>生产化的最大瓶颈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685800" y="809625"/>
            <a:ext cx="4248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>
                <a:solidFill>
                  <a:srgbClr val="64748B"/>
                </a:solidFill>
                <a:latin typeface="思源黑体"/>
                <a:ea typeface="思源黑体"/>
              </a:rPr>
              <a:t>Agent </a:t>
            </a:r>
            <a:r>
              <a:rPr lang="zh-CN" sz="1275">
                <a:solidFill>
                  <a:srgbClr val="64748B"/>
                </a:solidFill>
                <a:latin typeface="思源黑体"/>
                <a:ea typeface="思源黑体"/>
              </a:rPr>
              <a:t>说「我完成了」——</a:t>
            </a:r>
            <a:r>
              <a:rPr lang="en-US" sz="1275">
                <a:solidFill>
                  <a:srgbClr val="64748B"/>
                </a:solidFill>
                <a:latin typeface="思源黑体"/>
                <a:ea typeface="思源黑体"/>
              </a:rPr>
              <a:t> </a:t>
            </a:r>
            <a:r>
              <a:rPr lang="zh-CN" sz="1275">
                <a:solidFill>
                  <a:srgbClr val="64748B"/>
                </a:solidFill>
                <a:latin typeface="思源黑体"/>
                <a:ea typeface="思源黑体"/>
              </a:rPr>
              <a:t>凭什么相信它？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1096625" y="5905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思源黑体"/>
                <a:ea typeface="思源黑体"/>
              </a:rPr>
              <a:t>02 / 09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685800" y="1333500"/>
            <a:ext cx="6305550" cy="1562100"/>
          </a:xfrm>
          <a:prstGeom prst="roundRect">
            <a:avLst>
              <a:gd name="adj" fmla="val 8537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914400" y="1562100"/>
            <a:ext cx="5848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F172A"/>
                </a:solidFill>
                <a:latin typeface="思源黑体"/>
                <a:ea typeface="思源黑体"/>
              </a:rPr>
              <a:t>授权不明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914400" y="1971675"/>
            <a:ext cx="58483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475569"/>
                </a:solidFill>
                <a:latin typeface="思源黑体"/>
                <a:ea typeface="思源黑体"/>
              </a:rPr>
              <a:t>每步操作依据哪一级授权？是否在配额内？谁能证明「这次执行是经过批准的」？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685800" y="3105150"/>
            <a:ext cx="6305550" cy="1562100"/>
          </a:xfrm>
          <a:prstGeom prst="roundRect">
            <a:avLst>
              <a:gd name="adj" fmla="val 8537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914400" y="3333750"/>
            <a:ext cx="5848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F172A"/>
                </a:solidFill>
                <a:latin typeface="思源黑体"/>
                <a:ea typeface="思源黑体"/>
              </a:rPr>
              <a:t>证据缺失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914400" y="3743325"/>
            <a:ext cx="58483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475569"/>
                </a:solidFill>
                <a:latin typeface="思源黑体"/>
                <a:ea typeface="思源黑体"/>
              </a:rPr>
              <a:t>测试、补丁、报告是否形成完整因果链？执行证据能否在纠纷时离线复核？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685800" y="4876800"/>
            <a:ext cx="6305550" cy="1219200"/>
          </a:xfrm>
          <a:prstGeom prst="roundRect">
            <a:avLst>
              <a:gd name="adj" fmla="val 10938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914400" y="5105400"/>
            <a:ext cx="58483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0F172A"/>
                </a:solidFill>
                <a:latin typeface="思源黑体"/>
                <a:ea typeface="思源黑体"/>
              </a:rPr>
              <a:t>验收无据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914400" y="5514975"/>
            <a:ext cx="5848350" cy="352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425">
                <a:solidFill>
                  <a:srgbClr val="475569"/>
                </a:solidFill>
                <a:latin typeface="思源黑体"/>
                <a:ea typeface="思源黑体"/>
              </a:rPr>
              <a:t>谁有权作最终接受或拒绝？接受</a:t>
            </a:r>
            <a:r>
              <a:rPr lang="en-US" sz="1425">
                <a:solidFill>
                  <a:srgbClr val="475569"/>
                </a:solidFill>
                <a:latin typeface="思源黑体"/>
                <a:ea typeface="思源黑体"/>
              </a:rPr>
              <a:t>/</a:t>
            </a:r>
            <a:r>
              <a:rPr lang="zh-CN" sz="1425">
                <a:solidFill>
                  <a:srgbClr val="475569"/>
                </a:solidFill>
                <a:latin typeface="思源黑体"/>
                <a:ea typeface="思源黑体"/>
              </a:rPr>
              <a:t>拒绝本身是否有可审计的签名与理由？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7296150" y="1333500"/>
            <a:ext cx="4210050" cy="2486025"/>
          </a:xfrm>
          <a:prstGeom prst="roundRect">
            <a:avLst>
              <a:gd name="adj" fmla="val 5364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7562850" y="1600200"/>
            <a:ext cx="367665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200" b="1">
                <a:solidFill>
                  <a:srgbClr val="FFFFFF"/>
                </a:solidFill>
                <a:latin typeface="思源黑体"/>
                <a:ea typeface="思源黑体"/>
              </a:rPr>
              <a:t>40%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7562850" y="2819400"/>
            <a:ext cx="367665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500">
                <a:solidFill>
                  <a:srgbClr val="FFFFFF">
                    <a:alpha val="92000"/>
                  </a:srgbClr>
                </a:solidFill>
                <a:latin typeface="思源黑体"/>
                <a:ea typeface="思源黑体"/>
              </a:rPr>
              <a:t>Gartner </a:t>
            </a:r>
            <a:r>
              <a:rPr lang="zh-CN" sz="1500">
                <a:solidFill>
                  <a:srgbClr val="FFFFFF">
                    <a:alpha val="92000"/>
                  </a:srgbClr>
                </a:solidFill>
                <a:latin typeface="思源黑体"/>
                <a:ea typeface="思源黑体"/>
              </a:rPr>
              <a:t>预测</a:t>
            </a:r>
            <a:r>
              <a:rPr lang="en-US" sz="1500">
                <a:solidFill>
                  <a:srgbClr val="FFFFFF">
                    <a:alpha val="92000"/>
                  </a:srgbClr>
                </a:solidFill>
                <a:latin typeface="思源黑体"/>
                <a:ea typeface="思源黑体"/>
              </a:rPr>
              <a:t> 2026 </a:t>
            </a:r>
            <a:r>
              <a:rPr lang="zh-CN" sz="1500">
                <a:solidFill>
                  <a:srgbClr val="FFFFFF">
                    <a:alpha val="92000"/>
                  </a:srgbClr>
                </a:solidFill>
                <a:latin typeface="思源黑体"/>
                <a:ea typeface="思源黑体"/>
              </a:rPr>
              <a:t>年底</a:t>
            </a:r>
            <a:r>
              <a:rPr lang="en-US" sz="1500">
                <a:solidFill>
                  <a:srgbClr val="FFFFFF">
                    <a:alpha val="92000"/>
                  </a:srgbClr>
                </a:solidFill>
                <a:latin typeface="思源黑体"/>
                <a:ea typeface="思源黑体"/>
              </a:rPr>
              <a:t> 40% </a:t>
            </a:r>
            <a:r>
              <a:rPr lang="zh-CN" sz="1500">
                <a:solidFill>
                  <a:srgbClr val="FFFFFF">
                    <a:alpha val="92000"/>
                  </a:srgbClr>
                </a:solidFill>
                <a:latin typeface="思源黑体"/>
                <a:ea typeface="思源黑体"/>
              </a:rPr>
              <a:t>企业软件嵌入</a:t>
            </a:r>
            <a:r>
              <a:rPr lang="en-US" sz="1500">
                <a:solidFill>
                  <a:srgbClr val="FFFFFF">
                    <a:alpha val="92000"/>
                  </a:srgbClr>
                </a:solidFill>
                <a:latin typeface="思源黑体"/>
                <a:ea typeface="思源黑体"/>
              </a:rPr>
              <a:t> AI Agent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7296150" y="4029075"/>
            <a:ext cx="4210050" cy="1495425"/>
          </a:xfrm>
          <a:prstGeom prst="roundRect">
            <a:avLst>
              <a:gd name="adj" fmla="val 8917"/>
            </a:avLst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543800" y="4276725"/>
            <a:ext cx="37147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 b="1" spc="75">
                <a:solidFill>
                  <a:srgbClr val="06B6D4"/>
                </a:solidFill>
                <a:latin typeface="思源黑体"/>
                <a:ea typeface="思源黑体"/>
              </a:rPr>
              <a:t>EU AI ACT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543800" y="4581525"/>
            <a:ext cx="37147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高风险条款已生效：无法证明「</a:t>
            </a:r>
            <a:r>
              <a:rPr lang="en-US" sz="142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Agent </a:t>
            </a:r>
            <a:r>
              <a:rPr lang="zh-CN" sz="1425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被授权、被约束、可问责」的企业面临合规风险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7296150" y="5734050"/>
            <a:ext cx="4210050" cy="762000"/>
          </a:xfrm>
          <a:prstGeom prst="roundRect">
            <a:avLst>
              <a:gd name="adj" fmla="val 17500"/>
            </a:avLst>
          </a:prstGeom>
          <a:solidFill>
            <a:srgbClr val="F1F5F9"/>
          </a:solidFill>
          <a:ln/>
        </p:spPr>
        <p:txBody>
          <a:bodyPr/>
          <a:p/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7467600" y="5981700"/>
            <a:ext cx="209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06B6D4"/>
                </a:solidFill>
                <a:latin typeface="思源黑体"/>
                <a:ea typeface="思源黑体"/>
              </a:rPr>
              <a:t>？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7791450" y="5905500"/>
            <a:ext cx="3543300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350">
                <a:solidFill>
                  <a:srgbClr val="475569"/>
                </a:solidFill>
                <a:latin typeface="思源黑体"/>
                <a:ea typeface="思源黑体"/>
              </a:rPr>
              <a:t>现有信任基础设施聚焦身份层与支付层，独缺「工作」契约层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685800" y="6505575"/>
            <a:ext cx="3057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思源黑体"/>
                <a:ea typeface="思源黑体"/>
              </a:rPr>
              <a:t>OpenWorkProof · Agent </a:t>
            </a:r>
            <a:r>
              <a:rPr lang="zh-CN" sz="1050">
                <a:solidFill>
                  <a:srgbClr val="94A3B8"/>
                </a:solidFill>
                <a:latin typeface="思源黑体"/>
                <a:ea typeface="思源黑体"/>
              </a:rPr>
              <a:t>工作契约与可验证执行协议</a:t>
            </a:r>
            <a:endParaRPr/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38" name="" descr="&lt;Slide style={{ padding: '20px 72px', background: '#FFFFFF', fontFamily: '思源黑体', width: '1280px', height: '720px' }}&gt;&#10;  &lt;Box style={{ height: 100, flexDirection: 'row', alignItems: 'center', justifyContent: 'space-between' }}&gt;&#10;    &lt;Box style={{ flexDirection: 'column' }}&gt;&#10;      &lt;Text style={{ fontSize: 36, color: '#0F172A', fontWeight: 'bold' }}&gt;核心方案：工作契约协议层&lt;/Text&gt;&#10;      &lt;Text style={{ fontSize: 17, color: '#64748B', marginTop: 6 }}&gt;不替代框架、不替代工具 —— 补足「凭什么交付」的契约层&lt;/Text&gt;&#10;    &lt;/Box&gt;&#10;    &lt;Text style={{ fontSize: 14, color: '#94A3B8' }}&gt;03 / 09&lt;/Text&gt;&#10;  &lt;/Box&gt;&#10;  &lt;Box style={{ height: 120, background: '#F8FAFC', borderRadius: 14, padding: 24, marginTop: 12, flexDirection: 'row', alignItems: 'center', gap: 24 }}&gt;&#10;    &lt;Text style={{ fontSize: 52, color: '#06B6D4', fontWeight: 'bold' }}&gt;&quot;&lt;/Text&gt;&#10;    &lt;Text style={{ fontSize: 22, color: '#0F172A', lineHeight: 1.6, flex: 1 }}&gt;&#10;      OpenWorkProof 是 Agent 工作的&lt;Text style={{ color: '#3B82F6', fontWeight: 'bold' }}&gt;契约、授权、证据与验收&lt;/Text&gt;协议层：&#10;      回答「工作凭什么被授权、过程凭什么可信、结果凭什么被验收」&#10;    &lt;/Text&gt;&#10;  &lt;/Box&gt;&#10;  &lt;Box style={{ height: 310, marginTop: 24, flexDirection: 'column', justifyContent: 'space-between' }}&gt;&#10;    &lt;Box style={{ flexDirection: 'row', justifyContent: 'space-between', alignItems: 'center' }}&gt;&#10;      &lt;Text style={{ fontSize: 22, color: '#0F172A', fontWeight: 'bold' }}&gt;六个职能 Agent 构成端到端闭环&lt;/Text&gt;&#10;      &lt;Text style={{ fontSize: 16, color: '#94A3B8' }}&gt;以 AgentTeams 为协同设计基点&lt;/Text&gt;&#10;    &lt;/Box&gt;&#10;    &lt;Box style={{ flexDirection: 'row', gap: 18, marginTop: 14 }}&gt;&#10;      {[&#10;        ['Maintainer', '维护工作区与根授权'],&#10;        ['Manager', '拆解任务·签发最小权限授权'],&#10;        ['Developer', '受限工作区执行'],&#10;        ['Verifier', '隔离上下文独立复现'],&#10;        ['Sidecar', '旁路观察·防篡改'],&#10;        ['Acceptor', '终态验收·签名终局'],&#10;      ].map((item, index) =&gt; (&#10;        &lt;Box key={index} style={{ flex: 1, background: index === 1 ? 'linear-gradient(135deg, #3B82F6 0%, #06B6D4 100%)' : '#F8FAFC', borderRadius: 12, padding: '18px 14px', flexDirection: 'column', justifyContent: 'space-between', minHeight: 150 }}&gt;&#10;          &lt;Text style={{ fontSize: 20, color: index === 1 ? '#FFFFFF' : '#0F172A', fontWeight: 'bold' }}&gt;{item[0]}&lt;/Text&gt;&#10;          &lt;Text style={{ fontSize: 14, color: index === 1 ? 'rgba(255,255,255,0.9)' : '#64748B', lineHeight: 1.5, marginTop: 8 }}&gt;{item[1]}&lt;/Text&gt;&#10;        &lt;/Box&gt;&#10;      ))}&#10;    &lt;/Box&gt;&#10;    &lt;Box style={{ flexDirection: 'row', gap: 18, marginTop: 18 }}&gt;&#10;      {[&#10;        ['Proof-Carrying Work', '交付物携带可验证证据'],&#10;        ['No-Cloning Authority', '子授权只衰减不可扩权'],&#10;        ['Fail Closed', '无法验证即拒绝'],&#10;        ['离线复核', '第三方凭证据包离线验签'],&#10;      ].map((item, index) =&gt; (&#10;        &lt;Box key={index} style={{ flex: 1, flexDirection: 'row', alignItems: 'center', gap: 10, background: '#FFFFFF', borderWidth: 1, borderColor: '#E2E8F0', borderRadius: 10, padding: '12px 14px' }}&gt;&#10;          &lt;Box style={{ width: 8, height: 8, borderRadius: 4, background: '#06B6D4' }} /&gt;&#10;          &lt;Text style={{ fontSize: 16, color: '#0F172A', fontWeight: 'bold' }}&gt;{item[0]}&lt;/Text&gt;&#10;          &lt;Text style={{ fontSize: 13, color: '#64748B', marginLeft: 4 }}&gt;{item[1]}&lt;/Text&gt;&#10;        &lt;/Box&gt;&#10;      ))}&#10;    &lt;/Box&gt;&#10;  &lt;/Box&gt;&#10;  &lt;Box style={{ height: 60, flexDirection: 'row', alignItems: 'flex-end', justifyContent: 'space-between' }}&gt;&#10;    &lt;Text style={{ fontSize: 14, color: '#94A3B8' }}&gt;OpenWorkProof · Agent 工作契约与可验证执行协议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85800" y="333375"/>
            <a:ext cx="43053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0F172A"/>
                </a:solidFill>
                <a:latin typeface="思源黑体"/>
                <a:ea typeface="思源黑体"/>
              </a:rPr>
              <a:t>核心方案：工作契约协议层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85800" y="809625"/>
            <a:ext cx="4305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4748B"/>
                </a:solidFill>
                <a:latin typeface="思源黑体"/>
                <a:ea typeface="思源黑体"/>
              </a:rPr>
              <a:t>不替代框架、不替代工具</a:t>
            </a:r>
            <a:r>
              <a:rPr lang="en-US" sz="1275">
                <a:solidFill>
                  <a:srgbClr val="64748B"/>
                </a:solidFill>
                <a:latin typeface="思源黑体"/>
                <a:ea typeface="思源黑体"/>
              </a:rPr>
              <a:t> —— </a:t>
            </a:r>
            <a:r>
              <a:rPr lang="zh-CN" sz="1275">
                <a:solidFill>
                  <a:srgbClr val="64748B"/>
                </a:solidFill>
                <a:latin typeface="思源黑体"/>
                <a:ea typeface="思源黑体"/>
              </a:rPr>
              <a:t>补足「凭什么交付」的契约层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11096625" y="59055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思源黑体"/>
                <a:ea typeface="思源黑体"/>
              </a:rPr>
              <a:t>03 / 09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685800" y="1257300"/>
            <a:ext cx="10820400" cy="1143000"/>
          </a:xfrm>
          <a:prstGeom prst="roundRect">
            <a:avLst>
              <a:gd name="adj" fmla="val 11667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914400" y="1533525"/>
            <a:ext cx="238125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06B6D4"/>
                </a:solidFill>
                <a:latin typeface="思源黑体"/>
                <a:ea typeface="思源黑体"/>
              </a:rPr>
              <a:t>"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381125" y="1428750"/>
            <a:ext cx="9896475" cy="809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650">
                <a:solidFill>
                  <a:srgbClr val="0F172A"/>
                </a:solidFill>
                <a:latin typeface="思源黑体"/>
                <a:ea typeface="思源黑体"/>
              </a:rPr>
              <a:t>OpenWorkProof </a:t>
            </a:r>
            <a:r>
              <a:rPr lang="zh-CN" sz="1650">
                <a:solidFill>
                  <a:srgbClr val="0F172A"/>
                </a:solidFill>
                <a:latin typeface="思源黑体"/>
                <a:ea typeface="思源黑体"/>
              </a:rPr>
              <a:t>是</a:t>
            </a:r>
            <a:r>
              <a:rPr lang="en-US" sz="1650">
                <a:solidFill>
                  <a:srgbClr val="0F172A"/>
                </a:solidFill>
                <a:latin typeface="思源黑体"/>
                <a:ea typeface="思源黑体"/>
              </a:rPr>
              <a:t> Agent </a:t>
            </a:r>
            <a:r>
              <a:rPr lang="zh-CN" sz="1650">
                <a:solidFill>
                  <a:srgbClr val="0F172A"/>
                </a:solidFill>
                <a:latin typeface="思源黑体"/>
                <a:ea typeface="思源黑体"/>
              </a:rPr>
              <a:t>工作的</a:t>
            </a:r>
            <a:r>
              <a:rPr lang="zh-CN" sz="1650">
                <a:solidFill>
                  <a:srgbClr val="0F172A"/>
                </a:solidFill>
                <a:latin typeface="思源黑体"/>
                <a:ea typeface="思源黑体"/>
              </a:rPr>
              <a:t>契约、授权、证据与验收</a:t>
            </a:r>
            <a:r>
              <a:rPr lang="zh-CN" sz="1650">
                <a:solidFill>
                  <a:srgbClr val="0F172A"/>
                </a:solidFill>
                <a:latin typeface="思源黑体"/>
                <a:ea typeface="思源黑体"/>
              </a:rPr>
              <a:t>协议层：</a:t>
            </a:r>
            <a:r>
              <a:rPr lang="en-US" sz="1650">
                <a:solidFill>
                  <a:srgbClr val="0F172A"/>
                </a:solidFill>
                <a:latin typeface="思源黑体"/>
                <a:ea typeface="思源黑体"/>
              </a:rPr>
              <a:t> </a:t>
            </a:r>
            <a:r>
              <a:rPr lang="zh-CN" sz="1650">
                <a:solidFill>
                  <a:srgbClr val="0F172A"/>
                </a:solidFill>
                <a:latin typeface="思源黑体"/>
                <a:ea typeface="思源黑体"/>
              </a:rPr>
              <a:t>回答「工作凭什么被授权、过程凭什么可信、结果凭什么被验收」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85800" y="2628900"/>
            <a:ext cx="30194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思源黑体"/>
                <a:ea typeface="思源黑体"/>
              </a:rPr>
              <a:t>六个职能</a:t>
            </a:r>
            <a:r>
              <a:rPr lang="en-US" sz="1650" b="1">
                <a:solidFill>
                  <a:srgbClr val="0F172A"/>
                </a:solidFill>
                <a:latin typeface="思源黑体"/>
                <a:ea typeface="思源黑体"/>
              </a:rPr>
              <a:t> Agent </a:t>
            </a:r>
            <a:r>
              <a:rPr lang="zh-CN" sz="1650" b="1">
                <a:solidFill>
                  <a:srgbClr val="0F172A"/>
                </a:solidFill>
                <a:latin typeface="思源黑体"/>
                <a:ea typeface="思源黑体"/>
              </a:rPr>
              <a:t>构成端到端闭环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9353550" y="2667000"/>
            <a:ext cx="21526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94A3B8"/>
                </a:solidFill>
                <a:latin typeface="思源黑体"/>
                <a:ea typeface="思源黑体"/>
              </a:rPr>
              <a:t>以</a:t>
            </a:r>
            <a:r>
              <a:rPr lang="en-US" sz="1200">
                <a:solidFill>
                  <a:srgbClr val="94A3B8"/>
                </a:solidFill>
                <a:latin typeface="思源黑体"/>
                <a:ea typeface="思源黑体"/>
              </a:rPr>
              <a:t> AgentTeams </a:t>
            </a:r>
            <a:r>
              <a:rPr lang="zh-CN" sz="1200">
                <a:solidFill>
                  <a:srgbClr val="94A3B8"/>
                </a:solidFill>
                <a:latin typeface="思源黑体"/>
                <a:ea typeface="思源黑体"/>
              </a:rPr>
              <a:t>为协同设计基点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685800" y="3295650"/>
            <a:ext cx="1657350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19150" y="3467100"/>
            <a:ext cx="1390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72A"/>
                </a:solidFill>
                <a:latin typeface="思源黑体"/>
                <a:ea typeface="思源黑体"/>
              </a:rPr>
              <a:t>Maintainer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819150" y="4305300"/>
            <a:ext cx="13906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思源黑体"/>
                <a:ea typeface="思源黑体"/>
              </a:rPr>
              <a:t>维护工作区与根授权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2514600" y="3295650"/>
            <a:ext cx="1666875" cy="1428750"/>
          </a:xfrm>
          <a:prstGeom prst="roundRect">
            <a:avLst>
              <a:gd name="adj" fmla="val 8000"/>
            </a:avLst>
          </a:prstGeom>
          <a:gradFill>
            <a:gsLst>
              <a:gs pos="0">
                <a:srgbClr val="3B82F6"/>
              </a:gs>
              <a:gs pos="100000">
                <a:srgbClr val="06B6D4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2647950" y="3467100"/>
            <a:ext cx="14001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思源黑体"/>
                <a:ea typeface="思源黑体"/>
              </a:rPr>
              <a:t>Manager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2647950" y="4067175"/>
            <a:ext cx="1400175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050">
                <a:solidFill>
                  <a:srgbClr val="FFFFFF">
                    <a:alpha val="90000"/>
                  </a:srgbClr>
                </a:solidFill>
                <a:latin typeface="思源黑体"/>
                <a:ea typeface="思源黑体"/>
              </a:rPr>
              <a:t>拆解任务·签发最小权限授权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4352925" y="3295650"/>
            <a:ext cx="1657350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486275" y="3467100"/>
            <a:ext cx="1390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72A"/>
                </a:solidFill>
                <a:latin typeface="思源黑体"/>
                <a:ea typeface="思源黑体"/>
              </a:rPr>
              <a:t>Developer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4486275" y="4305300"/>
            <a:ext cx="13906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思源黑体"/>
                <a:ea typeface="思源黑体"/>
              </a:rPr>
              <a:t>受限工作区执行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6181725" y="3295650"/>
            <a:ext cx="1657350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315075" y="3467100"/>
            <a:ext cx="1390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72A"/>
                </a:solidFill>
                <a:latin typeface="思源黑体"/>
                <a:ea typeface="思源黑体"/>
              </a:rPr>
              <a:t>Verifier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315075" y="4305300"/>
            <a:ext cx="13906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思源黑体"/>
                <a:ea typeface="思源黑体"/>
              </a:rPr>
              <a:t>隔离上下文独立复现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8010525" y="3295650"/>
            <a:ext cx="1666875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8143875" y="3467100"/>
            <a:ext cx="14001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72A"/>
                </a:solidFill>
                <a:latin typeface="思源黑体"/>
                <a:ea typeface="思源黑体"/>
              </a:rPr>
              <a:t>Sidecar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8143875" y="4305300"/>
            <a:ext cx="1400175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思源黑体"/>
                <a:ea typeface="思源黑体"/>
              </a:rPr>
              <a:t>旁路观察·防篡改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9848850" y="3295650"/>
            <a:ext cx="1657350" cy="142875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9982200" y="3467100"/>
            <a:ext cx="13906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0F172A"/>
                </a:solidFill>
                <a:latin typeface="思源黑体"/>
                <a:ea typeface="思源黑体"/>
              </a:rPr>
              <a:t>Acceptor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9982200" y="4305300"/>
            <a:ext cx="139065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64748B"/>
                </a:solidFill>
                <a:latin typeface="思源黑体"/>
                <a:ea typeface="思源黑体"/>
              </a:rPr>
              <a:t>终态验收·签名终局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685800" y="5162550"/>
            <a:ext cx="2581275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7" name=""/>
          <p:cNvSpPr/>
          <p:nvPr/>
        </p:nvSpPr>
        <p:spPr>
          <a:xfrm rot="0" flipH="0" flipV="0">
            <a:off x="819150" y="5334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971550" y="5276850"/>
            <a:ext cx="11144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思源黑体"/>
                <a:ea typeface="思源黑体"/>
              </a:rPr>
              <a:t>Proof-Carrying Work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2219325" y="5295900"/>
            <a:ext cx="914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思源黑体"/>
                <a:ea typeface="思源黑体"/>
              </a:rPr>
              <a:t>交付物携带可验证证据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3438525" y="5162550"/>
            <a:ext cx="257175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1" name=""/>
          <p:cNvSpPr/>
          <p:nvPr/>
        </p:nvSpPr>
        <p:spPr>
          <a:xfrm rot="0" flipH="0" flipV="0">
            <a:off x="3571875" y="5334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3724275" y="5276850"/>
            <a:ext cx="1123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思源黑体"/>
                <a:ea typeface="思源黑体"/>
              </a:rPr>
              <a:t>No-Cloning Authority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4981575" y="5295900"/>
            <a:ext cx="8953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思源黑体"/>
                <a:ea typeface="思源黑体"/>
              </a:rPr>
              <a:t>子授权只衰减不可扩权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6181725" y="5162550"/>
            <a:ext cx="2581275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5" name=""/>
          <p:cNvSpPr/>
          <p:nvPr/>
        </p:nvSpPr>
        <p:spPr>
          <a:xfrm rot="0" flipH="0" flipV="0">
            <a:off x="6315075" y="5334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6486525" y="5276850"/>
            <a:ext cx="819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F172A"/>
                </a:solidFill>
                <a:latin typeface="思源黑体"/>
                <a:ea typeface="思源黑体"/>
              </a:rPr>
              <a:t>Fail Closed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439025" y="5295900"/>
            <a:ext cx="8667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思源黑体"/>
                <a:ea typeface="思源黑体"/>
              </a:rPr>
              <a:t>无法验证即拒绝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8934450" y="5162550"/>
            <a:ext cx="2571750" cy="419100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79" name=""/>
          <p:cNvSpPr/>
          <p:nvPr/>
        </p:nvSpPr>
        <p:spPr>
          <a:xfrm rot="0" flipH="0" flipV="0">
            <a:off x="9067800" y="5334000"/>
            <a:ext cx="76200" cy="7620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9239250" y="52768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F172A"/>
                </a:solidFill>
                <a:latin typeface="思源黑体"/>
                <a:ea typeface="思源黑体"/>
              </a:rPr>
              <a:t>离线复核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9982200" y="5295900"/>
            <a:ext cx="1362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4748B"/>
                </a:solidFill>
                <a:latin typeface="思源黑体"/>
                <a:ea typeface="思源黑体"/>
              </a:rPr>
              <a:t>第三方凭证据包离线验签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685800" y="5991225"/>
            <a:ext cx="3057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94A3B8"/>
                </a:solidFill>
                <a:latin typeface="思源黑体"/>
                <a:ea typeface="思源黑体"/>
              </a:rPr>
              <a:t>OpenWorkProof · Agent </a:t>
            </a:r>
            <a:r>
              <a:rPr lang="zh-CN" sz="1050">
                <a:solidFill>
                  <a:srgbClr val="94A3B8"/>
                </a:solidFill>
                <a:latin typeface="思源黑体"/>
                <a:ea typeface="思源黑体"/>
              </a:rPr>
              <a:t>工作契约与可验证执行协议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2026-08-13T10:12:37Z</dcterms:created>
  <dcterms:modified xsi:type="dcterms:W3CDTF">2026-08-13T10:12:37Z</dcterms:modified>
</cp:coreProperties>
</file>